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718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Search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Revenue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serverless pipeline to attribute</a:t>
            </a:r>
            <a:r>
              <a:rPr lang="en-US" sz="1600" dirty="0"/>
              <a:t> </a:t>
            </a:r>
            <a:r>
              <a:rPr lang="en-US" sz="16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 search engine keywords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0" y="9144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Assessment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Analytics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4709160"/>
            <a:ext cx="62636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718304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"Turning raw clickstream data into actionable keyword revenue insights"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694944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3977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869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Keyword Level Revenue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teams invest heavily in search, both paid search ads and organic SEO.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they often see clicks and sessions, but not revenue per keyword.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7408" y="868680"/>
            <a:ext cx="453542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07408" y="868680"/>
            <a:ext cx="4114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7408" y="86868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10328" y="960120"/>
            <a:ext cx="3941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search engines &amp; keywords actually drive revenue, not just visits?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07408" y="2057400"/>
            <a:ext cx="453542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07408" y="2057400"/>
            <a:ext cx="4114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07408" y="205740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10328" y="2148840"/>
            <a:ext cx="3941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increase vs. reduce search spend?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07408" y="3246120"/>
            <a:ext cx="453542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7408" y="3246120"/>
            <a:ext cx="41148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07408" y="324612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10328" y="3337560"/>
            <a:ext cx="3941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high traffic, low revenue keywords we should fix or pause?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&amp; Assumptions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694944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22960"/>
          <a:ext cx="8631936" cy="20299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with user_agent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Cross-device tracking not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engine + 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Parsed for domain &amp; query param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 '1' = purchase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 semicolon field = revenue per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3200400"/>
            <a:ext cx="426110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56032" y="3200400"/>
            <a:ext cx="4261104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320040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Identity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566160"/>
            <a:ext cx="4023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visitor_id = ip + user_agent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cross-device identity graph available from raw log data. Same person on phone vs laptop counts as two visitors.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0016" y="3200400"/>
            <a:ext cx="426110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0016" y="3200400"/>
            <a:ext cx="4261104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9744" y="320040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Rules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09744" y="3566160"/>
            <a:ext cx="4023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only recognized when event_list contains '1' (purchase event).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 format: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; name ; qty ; revenue ; ...</a:t>
            </a:r>
          </a:p>
          <a:p>
            <a:pPr marL="0" indent="0">
              <a:buNone/>
            </a:pPr>
            <a:endParaRPr lang="en-US" sz="1150" dirty="0">
              <a:solidFill>
                <a:srgbClr val="0D1B2A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GB" sz="1150" dirty="0"/>
              <a:t>Pipeline uses 4th field (revenue) and sums across items</a:t>
            </a:r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Logic &amp; Search Parsing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694944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50392"/>
            <a:ext cx="42611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50392"/>
            <a:ext cx="4261104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52728"/>
            <a:ext cx="40416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visitor_id = ip + user_agent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last external search per visitor across all their hits in the file.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0016" y="850392"/>
            <a:ext cx="42611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0016" y="850392"/>
            <a:ext cx="426110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9744" y="85039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Attribution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9744" y="1252728"/>
            <a:ext cx="40416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purchase is credited to the most recent external search seen BEFORE that purchase for the same visitor.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2907792"/>
            <a:ext cx="42611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2907792"/>
            <a:ext cx="4261104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90779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vs External Filter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310128"/>
            <a:ext cx="40416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esshopzilla.com (and subdomains) → treated as internal navigation.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non-internal hosts are considered eligible search engines.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0016" y="2907792"/>
            <a:ext cx="42611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0016" y="2907792"/>
            <a:ext cx="426110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9744" y="290779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 &amp; Normalisation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9744" y="3310128"/>
            <a:ext cx="40416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google/bing/msn → q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→ 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Keyword: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URL- decode, +/%20 as space,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collapse whitespace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"Ipod Nano" → "ipod nano"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— Daily Serverless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694944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83280" y="804672"/>
            <a:ext cx="237744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29000" y="8046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</a:t>
            </a: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hit_data.tsv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3774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Input Bucket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external-search-revenue-input/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670048"/>
            <a:ext cx="2377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26700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external-search-revenue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 TSV (streaming)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Last-touch attribution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Aggregate 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913632"/>
            <a:ext cx="23774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391363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Output Bucket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external-search-revenue-output/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YYYY-MM-DD_SearchKeywordPerformance.tab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1463040"/>
            <a:ext cx="0" cy="27432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07408" y="2395728"/>
            <a:ext cx="0" cy="27432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98848" y="24414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ObjectCreated Event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07408" y="3675888"/>
            <a:ext cx="0" cy="237744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804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47104" y="1737360"/>
            <a:ext cx="2322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818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0" name="CICDHdrBar"/>
          <p:cNvSpPr/>
          <p:nvPr/>
        </p:nvSpPr>
        <p:spPr>
          <a:xfrm>
            <a:off x="6361183" y="1323234"/>
            <a:ext cx="2285985" cy="32040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CICDHdrTxt"/>
          <p:cNvSpPr/>
          <p:nvPr/>
        </p:nvSpPr>
        <p:spPr>
          <a:xfrm>
            <a:off x="6400800" y="137160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CI/CD Deployment Flow</a:t>
            </a:r>
            <a:endParaRPr lang="en-US" sz="900" dirty="0"/>
          </a:p>
        </p:txBody>
      </p:sp>
      <p:sp>
        <p:nvSpPr>
          <p:cNvPr id="202" name="CICDStep1"/>
          <p:cNvSpPr/>
          <p:nvPr/>
        </p:nvSpPr>
        <p:spPr>
          <a:xfrm>
            <a:off x="6400800" y="1906524"/>
            <a:ext cx="2286000" cy="292608"/>
          </a:xfrm>
          <a:prstGeom prst="rect">
            <a:avLst/>
          </a:prstGeom>
          <a:solidFill>
            <a:srgbClr val="36454F"/>
          </a:solidFill>
          <a:ln w="9525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CICDStep1T"/>
          <p:cNvSpPr/>
          <p:nvPr/>
        </p:nvSpPr>
        <p:spPr>
          <a:xfrm>
            <a:off x="6400800" y="1906524"/>
            <a:ext cx="2286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2C39A"/>
                </a:solidFill>
                <a:latin typeface="Calibri" pitchFamily="34" charset="0"/>
              </a:rPr>
              <a:t>Developer Push  (git push -&gt; main)</a:t>
            </a:r>
            <a:endParaRPr lang="en-US" sz="880" dirty="0"/>
          </a:p>
        </p:txBody>
      </p:sp>
      <p:sp>
        <p:nvSpPr>
          <p:cNvPr id="204" name="CICDArr1"/>
          <p:cNvSpPr/>
          <p:nvPr/>
        </p:nvSpPr>
        <p:spPr>
          <a:xfrm>
            <a:off x="7543800" y="3191616"/>
            <a:ext cx="0" cy="82296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CICDStep2"/>
          <p:cNvSpPr/>
          <p:nvPr/>
        </p:nvSpPr>
        <p:spPr>
          <a:xfrm>
            <a:off x="6373366" y="2510207"/>
            <a:ext cx="2286000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CICDStep2T"/>
          <p:cNvSpPr/>
          <p:nvPr/>
        </p:nvSpPr>
        <p:spPr>
          <a:xfrm>
            <a:off x="6400800" y="254660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GitHub Actions CI</a:t>
            </a:r>
            <a:endParaRPr lang="en-US" sz="90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02C39A"/>
                </a:solidFill>
                <a:latin typeface="Calibri" pitchFamily="34" charset="0"/>
              </a:rPr>
              <a:t>ruff lint  ·  pytest</a:t>
            </a:r>
            <a:endParaRPr lang="en-US" sz="820" dirty="0"/>
          </a:p>
        </p:txBody>
      </p:sp>
      <p:sp>
        <p:nvSpPr>
          <p:cNvPr id="207" name="CICDArr2"/>
          <p:cNvSpPr/>
          <p:nvPr/>
        </p:nvSpPr>
        <p:spPr>
          <a:xfrm>
            <a:off x="7543800" y="3516588"/>
            <a:ext cx="0" cy="306504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8" name="CICDStep3"/>
          <p:cNvSpPr/>
          <p:nvPr/>
        </p:nvSpPr>
        <p:spPr>
          <a:xfrm>
            <a:off x="6400800" y="3191256"/>
            <a:ext cx="2286000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CICDStep3T"/>
          <p:cNvSpPr/>
          <p:nvPr/>
        </p:nvSpPr>
        <p:spPr>
          <a:xfrm>
            <a:off x="6400800" y="2651760"/>
            <a:ext cx="2286000" cy="143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GitHub Actions CD (OIDC)</a:t>
            </a:r>
            <a:endParaRPr lang="en-US" sz="90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02C39A"/>
                </a:solidFill>
                <a:latin typeface="Calibri" pitchFamily="34" charset="0"/>
              </a:rPr>
              <a:t>Build ZIP  →  aws lambda update-function-code</a:t>
            </a:r>
            <a:endParaRPr lang="en-US" sz="780" dirty="0"/>
          </a:p>
        </p:txBody>
      </p:sp>
      <p:sp>
        <p:nvSpPr>
          <p:cNvPr id="211" name="CICDStep4"/>
          <p:cNvSpPr/>
          <p:nvPr/>
        </p:nvSpPr>
        <p:spPr>
          <a:xfrm>
            <a:off x="6409945" y="3845052"/>
            <a:ext cx="2286000" cy="292608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CICDStep4T"/>
          <p:cNvSpPr/>
          <p:nvPr/>
        </p:nvSpPr>
        <p:spPr>
          <a:xfrm>
            <a:off x="6419089" y="3557016"/>
            <a:ext cx="2286000" cy="905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Updated Lambda in AWS  ✅</a:t>
            </a:r>
            <a:endParaRPr lang="en-US" sz="900" dirty="0"/>
          </a:p>
        </p:txBody>
      </p:sp>
      <p:sp>
        <p:nvSpPr>
          <p:cNvPr id="26" name="CICDArr2">
            <a:extLst>
              <a:ext uri="{FF2B5EF4-FFF2-40B4-BE49-F238E27FC236}">
                <a16:creationId xmlns:a16="http://schemas.microsoft.com/office/drawing/2014/main" id="{BFCC9322-AF13-254B-3ECE-0D7A533E28D2}"/>
              </a:ext>
            </a:extLst>
          </p:cNvPr>
          <p:cNvSpPr/>
          <p:nvPr/>
        </p:nvSpPr>
        <p:spPr>
          <a:xfrm>
            <a:off x="7516366" y="2894076"/>
            <a:ext cx="1" cy="305424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CICDArr2">
            <a:extLst>
              <a:ext uri="{FF2B5EF4-FFF2-40B4-BE49-F238E27FC236}">
                <a16:creationId xmlns:a16="http://schemas.microsoft.com/office/drawing/2014/main" id="{3D0D37E9-6297-914D-A9B0-52C524D6D860}"/>
              </a:ext>
            </a:extLst>
          </p:cNvPr>
          <p:cNvSpPr/>
          <p:nvPr/>
        </p:nvSpPr>
        <p:spPr>
          <a:xfrm>
            <a:off x="7504176" y="2189966"/>
            <a:ext cx="12191" cy="311097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CICDArr2">
            <a:extLst>
              <a:ext uri="{FF2B5EF4-FFF2-40B4-BE49-F238E27FC236}">
                <a16:creationId xmlns:a16="http://schemas.microsoft.com/office/drawing/2014/main" id="{7118FE0E-04DD-B78C-72F0-3BCC5D75D510}"/>
              </a:ext>
            </a:extLst>
          </p:cNvPr>
          <p:cNvSpPr/>
          <p:nvPr/>
        </p:nvSpPr>
        <p:spPr>
          <a:xfrm>
            <a:off x="7504179" y="1670040"/>
            <a:ext cx="0" cy="231912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694944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50392"/>
            <a:ext cx="8631936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6032" y="8412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</a:t>
            </a:r>
            <a:r>
              <a:rPr lang="en-US" sz="13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aws</a:t>
            </a:r>
            <a:r>
              <a:rPr lang="en-US" sz="1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s3 cp </a:t>
            </a:r>
            <a:r>
              <a:rPr lang="en-US" sz="13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path_to</a:t>
            </a:r>
            <a:r>
              <a:rPr lang="en-US" sz="1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/</a:t>
            </a:r>
            <a:r>
              <a:rPr lang="en-US" sz="13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hit_data.tsv</a:t>
            </a:r>
            <a:r>
              <a:rPr lang="en-US" sz="1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s3://external-search-revenue-input/raw/</a:t>
            </a:r>
            <a:r>
              <a:rPr lang="en-GB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$(date +%F)</a:t>
            </a:r>
            <a:r>
              <a:rPr lang="en-US" sz="1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/</a:t>
            </a:r>
            <a:r>
              <a:rPr lang="en-US" sz="13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hit_data.tsv</a:t>
            </a:r>
            <a:endParaRPr lang="en-US" sz="13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56032" y="1559052"/>
            <a:ext cx="8631936" cy="521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file:  2026-02-16_SearchKeywordPerformance.tab ( based on run date)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732913"/>
              </p:ext>
            </p:extLst>
          </p:nvPr>
        </p:nvGraphicFramePr>
        <p:xfrm>
          <a:off x="256032" y="2240280"/>
          <a:ext cx="8631936" cy="115214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Engine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google.com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ipod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480.00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bing.com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zune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250.00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56032" y="37490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56032" y="374904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032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56032" y="4498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50592" y="37490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450592" y="374904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450592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2450592" y="4498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Found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45152" y="37490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45152" y="3749040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645152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645152" y="4498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Attributed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39712" y="37490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839712" y="3749040"/>
            <a:ext cx="20116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39712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$730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839712" y="4498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694944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50392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50392"/>
            <a:ext cx="41148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8503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Built 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877056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200" dirty="0"/>
          </a:p>
          <a:p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200" dirty="0"/>
              <a:t>Validates required columns and fails fast with a clear error.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parsing</a:t>
            </a:r>
            <a:endParaRPr lang="en-US" sz="1200" dirty="0"/>
          </a:p>
          <a:p>
            <a:r>
              <a:rPr lang="en-GB" sz="1200" dirty="0"/>
              <a:t>Broken URLs or malformed product list rows are skipped, not crash the job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revenue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revenue fields are counted and logged (bad_revenue_values counter).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Unattributed purchases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with no prior external search are tracked in stats but excluded from the report.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35424" y="850392"/>
            <a:ext cx="43525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35424" y="850392"/>
            <a:ext cx="4352544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6864" y="850392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1234440"/>
            <a:ext cx="4133088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case normalisation (Ipod → ipod)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when visitor has multiple searches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referrers ignored (esshopzilla.com)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uses ?p= not ?q=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products in one purchase (revenue summed)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Non-purchase events (event=2) are skipped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ranked_rows sorts by revenue descending</a:t>
            </a:r>
          </a:p>
          <a:p>
            <a:pPr marL="342900" indent="-342900">
              <a:buSzPct val="100000"/>
              <a:buChar char="•"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Purchases with no prior external search are not attributed </a:t>
            </a:r>
          </a:p>
          <a:p>
            <a:pPr marL="342900" indent="-342900">
              <a:buSzPct val="100000"/>
              <a:buChar char="•"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Malformed / non-numeric revenue values are skipped and counted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6032" y="4617720"/>
            <a:ext cx="8631936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46268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CloudWatch:  rows_seen=21  </a:t>
            </a:r>
            <a:r>
              <a:rPr lang="en-US" sz="100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search_referrers_seen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=4  </a:t>
            </a:r>
            <a:r>
              <a:rPr lang="en-US" sz="100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purchases_seen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=3  purchases_attributed=3  revenue_attributed=730.00  bad_revenue_values=0  purchases_missing_prior_search=0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Engineering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694944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2788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868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28016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provisions S3 buckets, Lambda function, IAM role, and S3 → Lambda event notifications.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tear down and redeploy in minutes.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managed safely , no manual console changes.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86868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18688" y="868680"/>
            <a:ext cx="2788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868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(Least-Privilege)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28016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Lambda IAM role: read only on input bucket.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Write only on output bucket.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CloudWatch Logs write only.</a:t>
            </a:r>
          </a:p>
          <a:p>
            <a:pPr marL="342900" indent="-342900">
              <a:buSzPct val="100000"/>
              <a:buChar char="•"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Encryption at rest: S3 buckets use SSE-KMS</a:t>
            </a:r>
          </a:p>
          <a:p>
            <a:pPr marL="342900" indent="-342900">
              <a:buSzPct val="100000"/>
              <a:buChar char="•"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Lambda role includes minimal KMS permissions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86868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81344" y="868680"/>
            <a:ext cx="278892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2784" y="868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128016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on every PR: ruff lint + format check, pytest unit tests.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on main: build Lambda ZIP, aws lambda update-function-code.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OIDC  no long-lived keys stored in GitHub.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" y="4690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690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4690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4690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4690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4690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to 10 GB+ Files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694944"/>
            <a:ext cx="859536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50392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50392"/>
            <a:ext cx="411480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8503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Current Approach Scales Well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886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streaming: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grows with unique visitors + keywords, not raw file size.
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file load: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csv.DictReader reads line by line works well up to Lambda limits.
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limits: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15 min runtime, 10 GB RAM, 10 GB /tmp — 10 GB uncompressed TSV may be tight.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35424" y="850392"/>
            <a:ext cx="43525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35424" y="850392"/>
            <a:ext cx="4352544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6864" y="850392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5152" y="1234440"/>
            <a:ext cx="41330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identity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limited to ip + user_agent only.
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model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last touch only, no multi touch.
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perf tests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yet on full 10 GB files.
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 dashboard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yet, output is warehouse ready but not visualised.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3017520"/>
            <a:ext cx="863193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3017520"/>
            <a:ext cx="8631936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Path for 10 GB+ Daily Files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3438144"/>
            <a:ext cx="329184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343814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upstream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3822192"/>
            <a:ext cx="2066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/>
              <a:t>Shard upstream by hash (</a:t>
            </a:r>
            <a:r>
              <a:rPr lang="en-GB" sz="1100" dirty="0" err="1"/>
              <a:t>visitor_id</a:t>
            </a:r>
            <a:r>
              <a:rPr lang="en-GB" sz="1100" dirty="0"/>
              <a:t>) so all events for a visitor stay in the same shard – parallel lambdas safely.</a:t>
            </a:r>
          </a:p>
        </p:txBody>
      </p:sp>
      <p:sp>
        <p:nvSpPr>
          <p:cNvPr id="20" name="Shape 18"/>
          <p:cNvSpPr/>
          <p:nvPr/>
        </p:nvSpPr>
        <p:spPr>
          <a:xfrm>
            <a:off x="2523744" y="3438144"/>
            <a:ext cx="329184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23744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43814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/ EMR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23744" y="3822192"/>
            <a:ext cx="2066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same attribution logic to a Spark job. Fully managed, scales to 100 GB+ with no runtime limit.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0016" y="3438144"/>
            <a:ext cx="329184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0016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343814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0016" y="3822192"/>
            <a:ext cx="2066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 err="1"/>
              <a:t>EventBridge</a:t>
            </a:r>
            <a:r>
              <a:rPr lang="en-GB" sz="1100" dirty="0"/>
              <a:t> for schedule + Step Functions for retries/alerts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volume or revenue anomalies via CloudWatch.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76288" y="3438144"/>
            <a:ext cx="329184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76288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78624" y="343814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76288" y="3822192"/>
            <a:ext cx="2066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S3 output to QuickSight, Power BI, or Looker for daily keyword revenue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377440"/>
            <a:ext cx="8823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Code Walkthrough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2651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github.com/SumaReddyDE/external-search-revenue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3246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2026-02-16_SearchKeywordPerformance.tab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Attributed: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840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$730.00  across 2 keyword engine pairs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1111</Words>
  <Application>Microsoft Macintosh PowerPoint</Application>
  <PresentationFormat>On-screen Show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Search Keyword Revenue Attribution</dc:title>
  <dc:subject>PptxGenJS Presentation</dc:subject>
  <dc:creator>PptxGenJS</dc:creator>
  <cp:lastModifiedBy>Suma Reddy</cp:lastModifiedBy>
  <cp:revision>10</cp:revision>
  <dcterms:created xsi:type="dcterms:W3CDTF">2026-02-17T03:50:33Z</dcterms:created>
  <dcterms:modified xsi:type="dcterms:W3CDTF">2026-02-18T10:52:05Z</dcterms:modified>
</cp:coreProperties>
</file>